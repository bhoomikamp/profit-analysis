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1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47A1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1E88E5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PRDA-01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Startups Dataset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00400"/>
            <a:ext cx="6400800" cy="794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Bhoomika M P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r>
              <a:rPr lang="en-IN" sz="1500" i="0" dirty="0">
                <a:solidFill>
                  <a:schemeClr val="bg1"/>
                </a:solidFill>
                <a:effectLst/>
                <a:latin typeface="Inter"/>
              </a:rPr>
              <a:t>PTID-CDA-APR-26-11371-A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|  Orange  |  Power BI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4663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78909C"/>
                </a:solidFill>
              </a:rPr>
              <a:t>Datamites — Data Analyst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749808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692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Business objective and goal of the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745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293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219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50 startups with R&amp;D, Admin, Marketing Spend &amp;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749808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346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88950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Exploratory Data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Understanding data distribution and correlations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9476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947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49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Regression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1422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Multiple Linear Regression using Excel &amp; Orange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749808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9144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9692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Profit Predictions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2618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Predicted profit for 2 new data points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7452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8745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19293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Visualizations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2219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Power BI Dashboard — 4 key charts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4114800" cy="749808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34640"/>
            <a:ext cx="4572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8346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288950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Insights &amp; Recommendations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18211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Key findings and business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0058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Business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Predict the profit of startups based on their spending in R&amp;D, Administration, and Marketing across different US states using Multiple Linear Regression.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Key Questions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621792"/>
          </a:xfrm>
          <a:prstGeom prst="rect">
            <a:avLst/>
          </a:prstGeom>
          <a:solidFill>
            <a:srgbClr val="F8FB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578608"/>
            <a:ext cx="402336" cy="40233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9689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Which spending category has the highest impact on profit?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328416"/>
            <a:ext cx="402336" cy="40233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3467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Does the state (location) of a startup significantly affect its profit?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8412480" cy="621792"/>
          </a:xfrm>
          <a:prstGeom prst="rect">
            <a:avLst/>
          </a:prstGeom>
          <a:solidFill>
            <a:srgbClr val="F8FB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4078224"/>
            <a:ext cx="402336" cy="40233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9651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Can we accurately predict profit for new startups using this model?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Startups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41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41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US States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92024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41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Source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Dataset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2423160"/>
            <a:ext cx="10972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24231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2423160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4231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2423160"/>
            <a:ext cx="13716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423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2549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254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RD_Spend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2825496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28254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Numeric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282549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82549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Amount spent on Research &amp; Development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282549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28254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Feature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227832"/>
            <a:ext cx="1645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27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Administration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0" y="3227832"/>
            <a:ext cx="10972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32278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Numeric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8960" y="3227832"/>
            <a:ext cx="4114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32278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Amount spent on Administration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3227832"/>
            <a:ext cx="13716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32278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Feature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63016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301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Marketing_Spend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011680" y="363016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3630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Numeric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08960" y="363016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4680" y="36301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Amount spent on Marketing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23760" y="3630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3630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Feature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032504"/>
            <a:ext cx="1645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0325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State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11680" y="4032504"/>
            <a:ext cx="10972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40325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Categorical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108960" y="4032504"/>
            <a:ext cx="4114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54680" y="40325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US State — New York, California, Florida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4032504"/>
            <a:ext cx="13716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9480" y="40325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Feature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44348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434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Profit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011680" y="443484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57400" y="4434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Numeric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108960" y="443484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54680" y="4434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Company profit (target variable)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223760" y="443484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69480" y="44348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Target 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Descriptive Statistics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4630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2344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234440"/>
            <a:ext cx="731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12344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731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2344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8229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234440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36776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63677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RD_Spend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1636776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163677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1636776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163677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$165K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636776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636776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$73.7K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39112"/>
            <a:ext cx="14630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03911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Administration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2039112"/>
            <a:ext cx="7315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5376" y="203911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$51K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2039112"/>
            <a:ext cx="7315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203911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$182K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039112"/>
            <a:ext cx="8229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2039112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$121.3K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44144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44144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Marketing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244144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5376" y="24414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244144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24414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$472K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244144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24414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$211K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843784"/>
            <a:ext cx="14630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28437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Profit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0" y="2843784"/>
            <a:ext cx="7315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28437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$14K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0" y="2843784"/>
            <a:ext cx="7315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28437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$192K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91840" y="2843784"/>
            <a:ext cx="8229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2843784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$112K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Correlation with Profit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8463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RD_Spend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r = 0.97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46320" y="1600200"/>
            <a:ext cx="3931920" cy="2743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20" y="1600200"/>
            <a:ext cx="3813962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97%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4632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Marketing_Spend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58952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</a:rPr>
              <a:t>r = 0.75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846320" y="2560320"/>
            <a:ext cx="3931920" cy="2743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4" name="Shape 52"/>
          <p:cNvSpPr/>
          <p:nvPr/>
        </p:nvSpPr>
        <p:spPr>
          <a:xfrm>
            <a:off x="4846320" y="2560320"/>
            <a:ext cx="2948940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75%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463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Administration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5895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</a:rPr>
              <a:t>r = -0.2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846320" y="3520440"/>
            <a:ext cx="3931920" cy="2743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9" name="Shape 57"/>
          <p:cNvSpPr/>
          <p:nvPr/>
        </p:nvSpPr>
        <p:spPr>
          <a:xfrm>
            <a:off x="4846320" y="3520440"/>
            <a:ext cx="78638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760" y="4114800"/>
            <a:ext cx="73152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Key EDA Finding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R&amp;D Spend has an extremely strong positive correlation (r = 0.97) with Profit — making it the most critical predictor variable in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REGRESSION ANALYSIS —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05156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0.9508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DEFB"/>
                </a:solidFill>
              </a:rPr>
              <a:t>R²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093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95% variance explained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2011680" cy="105156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0.9452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Adj. R²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16093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Adjusted for 5 variables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777240"/>
            <a:ext cx="2011680" cy="105156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169.89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F-Statistic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6093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Model is significant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777240"/>
            <a:ext cx="2011680" cy="105156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9,439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Std. 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6093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RMSE in dollars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1993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Coefficients Table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21945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377440"/>
            <a:ext cx="1828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Coefficient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2377440"/>
            <a:ext cx="16459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P-value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377440"/>
            <a:ext cx="17373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Significant?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761488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614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Intercept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761488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761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50,324.13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2761488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7614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1.40E-08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2761488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7614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 Yes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145536"/>
            <a:ext cx="219456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455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RD_Spend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3145536"/>
            <a:ext cx="182880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1455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0.8060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3145536"/>
            <a:ext cx="164592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3145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2.58E-21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145536"/>
            <a:ext cx="173736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31455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 Yes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3529584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5295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Administration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3529584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35295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-0.0270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3529584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352958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0.6077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35040" y="3529584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35295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 No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3913632"/>
            <a:ext cx="219456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913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Marketing_Spend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0" y="3913632"/>
            <a:ext cx="182880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3913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0.0270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89120" y="3913632"/>
            <a:ext cx="164592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3913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0.1227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35040" y="3913632"/>
            <a:ext cx="173736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3913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 No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429768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Is_California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560320" y="429768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0604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-198.79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389120" y="42976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34840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0.9532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35040" y="429768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8076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 No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65760" y="4681728"/>
            <a:ext cx="219456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4681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Is_NewYork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560320" y="4681728"/>
            <a:ext cx="182880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06040" y="4681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-240.68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389120" y="4681728"/>
            <a:ext cx="164592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4681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0.9429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035040" y="4681728"/>
            <a:ext cx="173736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80760" y="4681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 No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REGRESSION ANALYSIS — ORANGE (10-FOLD CV)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5943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</a:rPr>
              <a:t>10-Fold Cross Validation: Orange splits data into 10 groups, trains on 9 and tests on 1, repeating 10 times. This gives a more realistic performance estimate on unseen data.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946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Cross Validation Results (Orange)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201168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84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084832"/>
            <a:ext cx="1828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2084832"/>
            <a:ext cx="1828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Orange (CV)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084832"/>
            <a:ext cx="246888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084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0116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68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468880"/>
            <a:ext cx="1828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4688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0.9508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468880"/>
            <a:ext cx="1828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4688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0.935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468880"/>
            <a:ext cx="24688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468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CV variation is normal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71216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712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RMSE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287121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8712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$9,439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287121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28712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$10,198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871216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8712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CV variation is normal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273552"/>
            <a:ext cx="20116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735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77440" y="3273552"/>
            <a:ext cx="1828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3273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89,099,095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3273552"/>
            <a:ext cx="1828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3273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103,998,781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3273552"/>
            <a:ext cx="24688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CV variation is normal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Orange Coefficients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65760" y="4069080"/>
            <a:ext cx="22402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069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Variable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51760" y="4069080"/>
            <a:ext cx="20574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Coefficient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343400"/>
            <a:ext cx="2240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Intercept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51760" y="4343400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50,177.6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617720"/>
            <a:ext cx="224028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617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RD_Spend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51760" y="4617720"/>
            <a:ext cx="205740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0.806023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892040"/>
            <a:ext cx="2240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892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Administration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51760" y="4892040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9748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-0.0270043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4069080"/>
            <a:ext cx="22402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4069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Variable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40880" y="4069080"/>
            <a:ext cx="20574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86600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Coefficient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4343400"/>
            <a:ext cx="2240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State = California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040880" y="4343400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-52.30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54880" y="4617720"/>
            <a:ext cx="224028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617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State = Florida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040880" y="4617720"/>
            <a:ext cx="205740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8660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146.49 (reference)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754880" y="4892040"/>
            <a:ext cx="2240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0600" y="4892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State = New York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40880" y="4892040"/>
            <a:ext cx="2057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-94.19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PROFIT PREDICTIONS — NEW DATA POINTS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Using the trained Multiple Linear Regression model, profits were predicted for 2 new startup data points.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Input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914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69164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69164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1691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R&amp;D Spend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69164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1691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Administration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1828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69164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Marketing Spend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14630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6916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09397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093976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Row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80160" y="209397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$21,892.92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09397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62656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$81,910.77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09397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2093976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$164,270.70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093976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209397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Florida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496312"/>
            <a:ext cx="9144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496312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Row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280160" y="2496312"/>
            <a:ext cx="1645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6736" y="24963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$23,940.93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2496312"/>
            <a:ext cx="164592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62656" y="24963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$96,489.63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496312"/>
            <a:ext cx="18288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249631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$137,001.10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496312"/>
            <a:ext cx="146304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49631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Florida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Predicted Profits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65760" y="3218688"/>
            <a:ext cx="4023360" cy="15087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218688"/>
            <a:ext cx="4023360" cy="3474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Row 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Excel Prediction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8953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$70,190.39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48640" y="4343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Orange Prediction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5176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0BEC5"/>
                </a:solidFill>
              </a:rPr>
              <a:t>$69,949.70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663440" y="3218688"/>
            <a:ext cx="4023360" cy="15087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218688"/>
            <a:ext cx="4023360" cy="3474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Row 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46320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Excel Prediction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8953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$70,711.71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846320" y="4343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Orange Prediction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4944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0BEC5"/>
                </a:solidFill>
              </a:rPr>
              <a:t>$70,471.00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Note: Minor difference between Excel and Orange predictions is due to state assumption (Florida vs New York) — both results are correct.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POWER BI VISUALIZATIONS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The following charts were created in Power BI to visualize relationships in the 50 Startups dataset: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4114800" cy="3840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3075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R&amp;D Spend vs Profit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19072"/>
            <a:ext cx="1005840" cy="21945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190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Scatter Plot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Strong positive trend (r=0.97). Higher R&amp;D spend clearly leads to higher profit across all states.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26187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61872"/>
            <a:ext cx="4114800" cy="3840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325880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9512" y="13075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Average Profit by State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719072"/>
            <a:ext cx="1005840" cy="21945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7190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Bar Chart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Florida leads with highest avg profit (~$116K), followed by New York (~$112K) and California (~$105K).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3639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36392"/>
            <a:ext cx="4114800" cy="3840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00400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31821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Marketing Spend vs Profit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593592"/>
            <a:ext cx="1005840" cy="21945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935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Scatter Plot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Moderate positive trend (r=0.75). Marketing has some impact but much weaker than R&amp;D spend.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13639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136392"/>
            <a:ext cx="4114800" cy="3840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1" name="Shape 29"/>
          <p:cNvSpPr/>
          <p:nvPr/>
        </p:nvSpPr>
        <p:spPr>
          <a:xfrm>
            <a:off x="4892040" y="3200400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9512" y="31821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Spending Categories vs Profit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3593592"/>
            <a:ext cx="1005840" cy="21945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5935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Column Chart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Marketing spend is highest on average, followed by Administration, then R&amp;D — yet R&amp;D drives profit most.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📊  Full dashboard screenshot included in submission ZIP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INSIGHTS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Key Insights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97680" cy="594360"/>
          </a:xfrm>
          <a:prstGeom prst="rect">
            <a:avLst/>
          </a:prstGeom>
          <a:solidFill>
            <a:srgbClr val="E3F2FD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411480" cy="4114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307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R&amp;D Spend is the ONLY statistically significant predictor of profit (p &lt; 0.05). All other variables are not significant.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411480" cy="4114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9933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The model explains 95.08% of the variance in profit (R² = 0.9508) — an excellent fit.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97680" cy="594360"/>
          </a:xfrm>
          <a:prstGeom prst="rect">
            <a:avLst/>
          </a:prstGeom>
          <a:solidFill>
            <a:srgbClr val="E3F2FD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97480"/>
            <a:ext cx="411480" cy="4114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6791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For every $1 increase in R&amp;D Spend, profit increases by approximately $0.806.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383280"/>
            <a:ext cx="411480" cy="4114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3649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State (location) has NO significant effect on profit — all state p-values are above 0.90.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4297680" cy="594360"/>
          </a:xfrm>
          <a:prstGeom prst="rect">
            <a:avLst/>
          </a:prstGeom>
          <a:solidFill>
            <a:srgbClr val="E3F2FD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069080"/>
            <a:ext cx="411480" cy="4114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40507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Florida startups have the highest average profit (~$116K), though the difference is not statistically significant.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Recommendations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37760" y="1234440"/>
            <a:ext cx="3840480" cy="80467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1234440"/>
            <a:ext cx="73152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5102352" y="1307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Prioritize R&amp;D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02352" y="1600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Startups should maximize R&amp;D investment as it has the strongest and most significant impact on profit.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2148840"/>
            <a:ext cx="3840480" cy="80467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148840"/>
            <a:ext cx="73152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2221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Deprioritize Location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02352" y="2514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Choosing a state should not be a primary profit strategy — location doesn't significantly affect earnings.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3063240"/>
            <a:ext cx="3840480" cy="80467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063240"/>
            <a:ext cx="73152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6" name="Text 34"/>
          <p:cNvSpPr/>
          <p:nvPr/>
        </p:nvSpPr>
        <p:spPr>
          <a:xfrm>
            <a:off x="5102352" y="3136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Optimize Admin Costs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02352" y="3429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Administration spend has a slight negative coefficient — keep admin costs lean to protect profit margins.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3977640"/>
            <a:ext cx="3840480" cy="80467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0" y="3977640"/>
            <a:ext cx="73152" cy="8046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0" name="Text 38"/>
          <p:cNvSpPr/>
          <p:nvPr/>
        </p:nvSpPr>
        <p:spPr>
          <a:xfrm>
            <a:off x="5102352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Marketing ROI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02352" y="4343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Despite high avg spending, marketing is not statistically significant — evaluate marketing ROI more carefully.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47A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E88E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828800" cy="3200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Summary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45720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✔  Multiple Linear Regression successfully built on 50 Startups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✔  R² of 0.9508 — model explains 95% of profit variance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CAF9"/>
                </a:solidFill>
              </a:rPr>
              <a:t>✔  R&amp;D Spend is the only significant profit predictor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✔  Profit predicted for 2 new rows: ~$70,190 and ~$70,712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✔  Analysis performed using Excel, Orange, and Power BI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</a:rPr>
              <a:t>Submitted by Bhoomika M P  |  Team ID: PTID-CDA-APR-26-11371-A   |  Dataset: Database  |  Project: PRDA-01 – Profit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1067</Words>
  <Application>Microsoft Office PowerPoint</Application>
  <PresentationFormat>On-screen Show (16:9)</PresentationFormat>
  <Paragraphs>275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 Analysis - 50 Startups</dc:title>
  <dc:subject>PptxGenJS Presentation</dc:subject>
  <dc:creator>Bhoomika</dc:creator>
  <cp:lastModifiedBy>Bhoomika M P</cp:lastModifiedBy>
  <cp:revision>5</cp:revision>
  <dcterms:created xsi:type="dcterms:W3CDTF">2026-05-30T13:08:29Z</dcterms:created>
  <dcterms:modified xsi:type="dcterms:W3CDTF">2026-05-30T14:35:14Z</dcterms:modified>
</cp:coreProperties>
</file>